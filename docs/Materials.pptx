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86" r:id="rId5"/>
    <p:sldId id="283" r:id="rId6"/>
    <p:sldId id="270" r:id="rId7"/>
    <p:sldId id="275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42" d="100"/>
          <a:sy n="142" d="100"/>
        </p:scale>
        <p:origin x="92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Full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1" name="RightPanel"/>
          <p:cNvSpPr>
            <a:spLocks noGrp="1"/>
          </p:cNvSpPr>
          <p:nvPr/>
        </p:nvSpPr>
        <p:spPr>
          <a:xfrm>
            <a:off x="6604000" y="0"/>
            <a:ext cx="5588000" cy="6858000"/>
          </a:xfrm>
          <a:prstGeom prst="rect">
            <a:avLst/>
          </a:prstGeom>
          <a:solidFill>
            <a:srgbClr val="16406A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2" name="AccentBar"/>
          <p:cNvSpPr>
            <a:spLocks noGrp="1"/>
          </p:cNvSpPr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>
              <a:buNone/>
            </a:pPr>
            <a:endParaRPr/>
          </a:p>
        </p:txBody>
      </p:sp>
      <p:pic>
        <p:nvPicPr>
          <p:cNvPr id="2" name="Copied Picture 2">
            <a:extLst>
              <a:ext uri="{FF2B5EF4-FFF2-40B4-BE49-F238E27FC236}">
                <a16:creationId xmlns:a16="http://schemas.microsoft.com/office/drawing/2014/main" id="{96BBA74C-5CAE-D4FD-93F6-BAC5BE61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0" y="1765300"/>
            <a:ext cx="4572000" cy="3340100"/>
          </a:xfrm>
          <a:prstGeom prst="rect">
            <a:avLst/>
          </a:prstGeom>
        </p:spPr>
      </p:pic>
      <p:sp>
        <p:nvSpPr>
          <p:cNvPr id="13" name="Eyebrow"/>
          <p:cNvSpPr>
            <a:spLocks noGrp="1"/>
          </p:cNvSpPr>
          <p:nvPr/>
        </p:nvSpPr>
        <p:spPr>
          <a:xfrm>
            <a:off x="381000" y="1651000"/>
            <a:ext cx="5969000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7B2D8E"/>
                </a:solidFill>
              </a:rPr>
              <a:t>PERSONA WORKSHOP</a:t>
            </a:r>
          </a:p>
        </p:txBody>
      </p:sp>
      <p:sp>
        <p:nvSpPr>
          <p:cNvPr id="14" name="MainTitle"/>
          <p:cNvSpPr>
            <a:spLocks noGrp="1"/>
          </p:cNvSpPr>
          <p:nvPr/>
        </p:nvSpPr>
        <p:spPr>
          <a:xfrm>
            <a:off x="381000" y="2095500"/>
            <a:ext cx="5969000" cy="30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Create your</a:t>
            </a:r>
          </a:p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very own </a:t>
            </a:r>
            <a:r>
              <a:rPr lang="en-US" sz="3600" b="1" dirty="0">
                <a:solidFill>
                  <a:srgbClr val="E5C4F0"/>
                </a:solidFill>
              </a:rPr>
              <a:t>team</a:t>
            </a:r>
          </a:p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using </a:t>
            </a:r>
            <a:r>
              <a:rPr lang="en-US" sz="3600" b="1" dirty="0">
                <a:solidFill>
                  <a:srgbClr val="AED4F0"/>
                </a:solidFill>
              </a:rPr>
              <a:t>personas</a:t>
            </a:r>
          </a:p>
        </p:txBody>
      </p:sp>
      <p:sp>
        <p:nvSpPr>
          <p:cNvPr id="15" name="Divider"/>
          <p:cNvSpPr>
            <a:spLocks noGrp="1"/>
          </p:cNvSpPr>
          <p:nvPr/>
        </p:nvSpPr>
        <p:spPr>
          <a:xfrm>
            <a:off x="381000" y="5270500"/>
            <a:ext cx="2540000" cy="381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" name="Subtitle"/>
          <p:cNvSpPr>
            <a:spLocks noGrp="1"/>
          </p:cNvSpPr>
          <p:nvPr/>
        </p:nvSpPr>
        <p:spPr>
          <a:xfrm>
            <a:off x="381000" y="5410200"/>
            <a:ext cx="5969000" cy="55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AED4F0"/>
                </a:solidFill>
              </a:rPr>
              <a:t>With Claude Code • Written in Markdown • Portable across LLMs</a:t>
            </a:r>
          </a:p>
        </p:txBody>
      </p:sp>
    </p:spTree>
    <p:extLst>
      <p:ext uri="{BB962C8B-B14F-4D97-AF65-F5344CB8AC3E}">
        <p14:creationId xmlns:p14="http://schemas.microsoft.com/office/powerpoint/2010/main" val="22358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Strip"/>
          <p:cNvSpPr>
            <a:spLocks noGrp="1"/>
          </p:cNvSpPr>
          <p:nvPr/>
        </p:nvSpPr>
        <p:spPr>
          <a:xfrm>
            <a:off x="0" y="0"/>
            <a:ext cx="12192000" cy="1587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" name="TitleText"/>
          <p:cNvSpPr>
            <a:spLocks noGrp="1"/>
          </p:cNvSpPr>
          <p:nvPr/>
        </p:nvSpPr>
        <p:spPr>
          <a:xfrm>
            <a:off x="508000" y="228600"/>
            <a:ext cx="11176000" cy="1168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Leveraging Personas in LLMs</a:t>
            </a:r>
          </a:p>
          <a:p>
            <a:pPr algn="l">
              <a:buNone/>
            </a:pPr>
            <a:r>
              <a:rPr lang="en-US" sz="1600" i="1" dirty="0">
                <a:solidFill>
                  <a:srgbClr val="AED4F0"/>
                </a:solidFill>
              </a:rPr>
              <a:t>Introduction</a:t>
            </a:r>
          </a:p>
        </p:txBody>
      </p:sp>
      <p:sp>
        <p:nvSpPr>
          <p:cNvPr id="22" name="Box1"/>
          <p:cNvSpPr>
            <a:spLocks noGrp="1"/>
          </p:cNvSpPr>
          <p:nvPr/>
        </p:nvSpPr>
        <p:spPr>
          <a:xfrm>
            <a:off x="698500" y="1968500"/>
            <a:ext cx="2921000" cy="1397000"/>
          </a:xfrm>
          <a:prstGeom prst="roundRect">
            <a:avLst>
              <a:gd name="adj" fmla="val 3000"/>
            </a:avLst>
          </a:prstGeom>
          <a:solidFill>
            <a:srgbClr val="7B2D8E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Persona</a:t>
            </a:r>
          </a:p>
          <a:p>
            <a:pPr algn="ctr">
              <a:buNone/>
            </a:pPr>
            <a:r>
              <a:rPr lang="en-US" sz="1400" dirty="0">
                <a:solidFill>
                  <a:srgbClr val="E5C4F0"/>
                </a:solidFill>
              </a:rPr>
              <a:t>persona.md</a:t>
            </a:r>
          </a:p>
        </p:txBody>
      </p:sp>
      <p:sp>
        <p:nvSpPr>
          <p:cNvPr id="23" name="Box2"/>
          <p:cNvSpPr>
            <a:spLocks noGrp="1"/>
          </p:cNvSpPr>
          <p:nvPr/>
        </p:nvSpPr>
        <p:spPr>
          <a:xfrm>
            <a:off x="4635500" y="1968500"/>
            <a:ext cx="2921000" cy="1397000"/>
          </a:xfrm>
          <a:prstGeom prst="roundRect">
            <a:avLst>
              <a:gd name="adj" fmla="val 3000"/>
            </a:avLst>
          </a:prstGeom>
          <a:solidFill>
            <a:srgbClr val="AED4F0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1F4E79"/>
                </a:solidFill>
              </a:rPr>
              <a:t>Markdown File</a:t>
            </a:r>
          </a:p>
          <a:p>
            <a:pPr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Plain text • portable • readable</a:t>
            </a:r>
          </a:p>
        </p:txBody>
      </p:sp>
      <p:sp>
        <p:nvSpPr>
          <p:cNvPr id="24" name="Box3"/>
          <p:cNvSpPr>
            <a:spLocks noGrp="1"/>
          </p:cNvSpPr>
          <p:nvPr/>
        </p:nvSpPr>
        <p:spPr>
          <a:xfrm>
            <a:off x="8572500" y="1968500"/>
            <a:ext cx="2921000" cy="1397000"/>
          </a:xfrm>
          <a:prstGeom prst="roundRect">
            <a:avLst>
              <a:gd name="adj" fmla="val 3000"/>
            </a:avLst>
          </a:prstGeom>
          <a:solidFill>
            <a:srgbClr val="1F4E79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Context</a:t>
            </a:r>
          </a:p>
          <a:p>
            <a:pPr algn="ctr">
              <a:buNone/>
            </a:pPr>
            <a:r>
              <a:rPr lang="en-US" sz="1400" dirty="0">
                <a:solidFill>
                  <a:srgbClr val="AED4F0"/>
                </a:solidFill>
              </a:rPr>
              <a:t>Any LLM • Any platform</a:t>
            </a:r>
          </a:p>
        </p:txBody>
      </p:sp>
      <p:sp>
        <p:nvSpPr>
          <p:cNvPr id="25" name="Arrow1"/>
          <p:cNvSpPr>
            <a:spLocks noGrp="1"/>
          </p:cNvSpPr>
          <p:nvPr/>
        </p:nvSpPr>
        <p:spPr>
          <a:xfrm>
            <a:off x="3708400" y="2451100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B2D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Arrow2"/>
          <p:cNvSpPr>
            <a:spLocks noGrp="1"/>
          </p:cNvSpPr>
          <p:nvPr/>
        </p:nvSpPr>
        <p:spPr>
          <a:xfrm>
            <a:off x="7645400" y="2451100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IsLabel1"/>
          <p:cNvSpPr>
            <a:spLocks noGrp="1"/>
          </p:cNvSpPr>
          <p:nvPr/>
        </p:nvSpPr>
        <p:spPr>
          <a:xfrm>
            <a:off x="3708400" y="2324100"/>
            <a:ext cx="863600" cy="228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IS JUST</a:t>
            </a:r>
          </a:p>
        </p:txBody>
      </p:sp>
      <p:sp>
        <p:nvSpPr>
          <p:cNvPr id="28" name="IsLabel2"/>
          <p:cNvSpPr>
            <a:spLocks noGrp="1"/>
          </p:cNvSpPr>
          <p:nvPr/>
        </p:nvSpPr>
        <p:spPr>
          <a:xfrm>
            <a:off x="7645400" y="2324100"/>
            <a:ext cx="863600" cy="228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IS JUST</a:t>
            </a:r>
          </a:p>
        </p:txBody>
      </p:sp>
      <p:sp>
        <p:nvSpPr>
          <p:cNvPr id="29" name="PortHeader"/>
          <p:cNvSpPr>
            <a:spLocks noGrp="1"/>
          </p:cNvSpPr>
          <p:nvPr/>
        </p:nvSpPr>
        <p:spPr>
          <a:xfrm>
            <a:off x="698500" y="3746500"/>
            <a:ext cx="10795000" cy="355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555555"/>
                </a:solidFill>
              </a:rPr>
              <a:t>Works in any LLM platform</a:t>
            </a:r>
          </a:p>
        </p:txBody>
      </p:sp>
      <p:sp>
        <p:nvSpPr>
          <p:cNvPr id="30" name="ClaudePill"/>
          <p:cNvSpPr>
            <a:spLocks noGrp="1"/>
          </p:cNvSpPr>
          <p:nvPr/>
        </p:nvSpPr>
        <p:spPr>
          <a:xfrm>
            <a:off x="698500" y="4191000"/>
            <a:ext cx="2032000" cy="558800"/>
          </a:xfrm>
          <a:prstGeom prst="roundRect">
            <a:avLst>
              <a:gd name="adj" fmla="val 16000"/>
            </a:avLst>
          </a:prstGeom>
          <a:solidFill>
            <a:srgbClr val="E5C4F0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7B2D8E"/>
                </a:solidFill>
              </a:rPr>
              <a:t>Claude</a:t>
            </a:r>
          </a:p>
        </p:txBody>
      </p:sp>
      <p:sp>
        <p:nvSpPr>
          <p:cNvPr id="31" name="ChatGPTPill"/>
          <p:cNvSpPr>
            <a:spLocks noGrp="1"/>
          </p:cNvSpPr>
          <p:nvPr/>
        </p:nvSpPr>
        <p:spPr>
          <a:xfrm>
            <a:off x="2857500" y="4191000"/>
            <a:ext cx="2032000" cy="558800"/>
          </a:xfrm>
          <a:prstGeom prst="roundRect">
            <a:avLst>
              <a:gd name="adj" fmla="val 16000"/>
            </a:avLst>
          </a:prstGeom>
          <a:solidFill>
            <a:srgbClr val="AED4F0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ChatGPT</a:t>
            </a:r>
          </a:p>
        </p:txBody>
      </p:sp>
      <p:sp>
        <p:nvSpPr>
          <p:cNvPr id="32" name="GeminiPill"/>
          <p:cNvSpPr>
            <a:spLocks noGrp="1"/>
          </p:cNvSpPr>
          <p:nvPr/>
        </p:nvSpPr>
        <p:spPr>
          <a:xfrm>
            <a:off x="5016500" y="4191000"/>
            <a:ext cx="2032000" cy="558800"/>
          </a:xfrm>
          <a:prstGeom prst="roundRect">
            <a:avLst>
              <a:gd name="adj" fmla="val 16000"/>
            </a:avLst>
          </a:prstGeom>
          <a:solidFill>
            <a:srgbClr val="AED4F0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Gemini</a:t>
            </a:r>
          </a:p>
        </p:txBody>
      </p:sp>
      <p:sp>
        <p:nvSpPr>
          <p:cNvPr id="33" name="CopilotPill"/>
          <p:cNvSpPr>
            <a:spLocks noGrp="1"/>
          </p:cNvSpPr>
          <p:nvPr/>
        </p:nvSpPr>
        <p:spPr>
          <a:xfrm>
            <a:off x="7175500" y="4191000"/>
            <a:ext cx="2032000" cy="558800"/>
          </a:xfrm>
          <a:prstGeom prst="roundRect">
            <a:avLst>
              <a:gd name="adj" fmla="val 16000"/>
            </a:avLst>
          </a:prstGeom>
          <a:solidFill>
            <a:srgbClr val="AED4F0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Copilot</a:t>
            </a:r>
          </a:p>
        </p:txBody>
      </p:sp>
      <p:sp>
        <p:nvSpPr>
          <p:cNvPr id="34" name="OthersPill"/>
          <p:cNvSpPr>
            <a:spLocks noGrp="1"/>
          </p:cNvSpPr>
          <p:nvPr/>
        </p:nvSpPr>
        <p:spPr>
          <a:xfrm>
            <a:off x="9334500" y="4191000"/>
            <a:ext cx="2032000" cy="558800"/>
          </a:xfrm>
          <a:prstGeom prst="roundRect">
            <a:avLst>
              <a:gd name="adj" fmla="val 16000"/>
            </a:avLst>
          </a:prstGeom>
          <a:solidFill>
            <a:srgbClr val="F2F4F7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555555"/>
                </a:solidFill>
              </a:rPr>
              <a:t>...and more</a:t>
            </a:r>
          </a:p>
        </p:txBody>
      </p:sp>
      <p:sp>
        <p:nvSpPr>
          <p:cNvPr id="35" name="Caption"/>
          <p:cNvSpPr>
            <a:spLocks noGrp="1"/>
          </p:cNvSpPr>
          <p:nvPr/>
        </p:nvSpPr>
        <p:spPr>
          <a:xfrm>
            <a:off x="698500" y="5080000"/>
            <a:ext cx="10795000" cy="45720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A persona is a </a:t>
            </a:r>
            <a:r>
              <a:rPr lang="en-US" sz="1400" b="1" dirty="0">
                <a:solidFill>
                  <a:srgbClr val="7B2D8E"/>
                </a:solidFill>
              </a:rPr>
              <a:t>.md file</a:t>
            </a:r>
            <a:r>
              <a:rPr lang="en-US" sz="1400" dirty="0">
                <a:solidFill>
                  <a:srgbClr val="555555"/>
                </a:solidFill>
              </a:rPr>
              <a:t> you paste into any LLM’s context window — nothing more, nothing less.</a:t>
            </a:r>
          </a:p>
        </p:txBody>
      </p:sp>
      <p:sp>
        <p:nvSpPr>
          <p:cNvPr id="36" name="AccentLine"/>
          <p:cNvSpPr>
            <a:spLocks noGrp="1"/>
          </p:cNvSpPr>
          <p:nvPr/>
        </p:nvSpPr>
        <p:spPr>
          <a:xfrm>
            <a:off x="0" y="6604000"/>
            <a:ext cx="12192000" cy="762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 vert="horz" anchor="ctr" anchorCtr="1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6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eftHeader"/>
          <p:cNvSpPr>
            <a:spLocks noGrp="1"/>
          </p:cNvSpPr>
          <p:nvPr/>
        </p:nvSpPr>
        <p:spPr>
          <a:xfrm>
            <a:off x="508000" y="0"/>
            <a:ext cx="5334000" cy="635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Working with Context</a:t>
            </a:r>
          </a:p>
        </p:txBody>
      </p:sp>
      <p:sp>
        <p:nvSpPr>
          <p:cNvPr id="102" name="RightHeader"/>
          <p:cNvSpPr>
            <a:spLocks noGrp="1"/>
          </p:cNvSpPr>
          <p:nvPr/>
        </p:nvSpPr>
        <p:spPr>
          <a:xfrm>
            <a:off x="6350000" y="0"/>
            <a:ext cx="5334000" cy="635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Working with a Persona</a:t>
            </a:r>
          </a:p>
        </p:txBody>
      </p:sp>
      <p:sp>
        <p:nvSpPr>
          <p:cNvPr id="103" name="Divider"/>
          <p:cNvSpPr>
            <a:spLocks noGrp="1"/>
          </p:cNvSpPr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LeftIconZone"/>
          <p:cNvSpPr>
            <a:spLocks noGrp="1"/>
          </p:cNvSpPr>
          <p:nvPr/>
        </p:nvSpPr>
        <p:spPr>
          <a:xfrm>
            <a:off x="508000" y="660400"/>
            <a:ext cx="5334000" cy="1905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RightIconZone"/>
          <p:cNvSpPr>
            <a:spLocks noGrp="1"/>
          </p:cNvSpPr>
          <p:nvPr/>
        </p:nvSpPr>
        <p:spPr>
          <a:xfrm>
            <a:off x="6350000" y="660400"/>
            <a:ext cx="5334000" cy="1905000"/>
          </a:xfrm>
          <a:prstGeom prst="rect">
            <a:avLst/>
          </a:prstGeom>
          <a:solidFill>
            <a:srgbClr val="F3EAF7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8" name="LeftContent"/>
          <p:cNvSpPr>
            <a:spLocks noGrp="1"/>
          </p:cNvSpPr>
          <p:nvPr/>
        </p:nvSpPr>
        <p:spPr>
          <a:xfrm>
            <a:off x="508000" y="2667000"/>
            <a:ext cx="5334000" cy="4064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txBody>
          <a:bodyPr lIns="342900" tIns="342900" rIns="342900" anchor="t"/>
          <a:lstStyle/>
          <a:p>
            <a:pPr algn="ctr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4E79"/>
                </a:solidFill>
              </a:rPr>
              <a:t>How you work with context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Upload an Excel Spreadsheet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Ask agent to get a list of products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Ask agent to query the database to get the total sales volume and put into the spreadsheet.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Agent uses MCP tool or CLI to work with database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Ask agent to get the top 10 grossing products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Ask agent to notify team members by email</a:t>
            </a:r>
          </a:p>
        </p:txBody>
      </p:sp>
      <p:sp>
        <p:nvSpPr>
          <p:cNvPr id="109" name="RightContent"/>
          <p:cNvSpPr>
            <a:spLocks noGrp="1"/>
          </p:cNvSpPr>
          <p:nvPr/>
        </p:nvSpPr>
        <p:spPr>
          <a:xfrm>
            <a:off x="6350000" y="2667000"/>
            <a:ext cx="5334000" cy="4064000"/>
          </a:xfrm>
          <a:prstGeom prst="rect">
            <a:avLst/>
          </a:prstGeom>
          <a:solidFill>
            <a:srgbClr val="FAF4FD"/>
          </a:solidFill>
          <a:ln>
            <a:noFill/>
          </a:ln>
        </p:spPr>
        <p:txBody>
          <a:bodyPr lIns="342900" tIns="342900" rIns="342900" anchor="t"/>
          <a:lstStyle/>
          <a:p>
            <a:pPr algn="ctr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7B2D8E"/>
                </a:solidFill>
              </a:rPr>
              <a:t>How you work with a persona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Dana, can you send the top 10 grossing products that were included in last month’s sales spreadsheet and send it to the marketing team. Add a column for the sales volume for each product. </a:t>
            </a:r>
          </a:p>
        </p:txBody>
      </p:sp>
      <p:pic>
        <p:nvPicPr>
          <p:cNvPr id="110" name="Graphic 110" descr="Cog/gear icon representing contex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13000" y="977900"/>
            <a:ext cx="1270000" cy="1270000"/>
          </a:xfrm>
          <a:prstGeom prst="rect">
            <a:avLst/>
          </a:prstGeom>
        </p:spPr>
      </p:pic>
      <p:pic>
        <p:nvPicPr>
          <p:cNvPr id="111" name="Graphic 111" descr="Person avatar icon representing person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0" y="9779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6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g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01" name="Title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Context sees everything · Persona gets what it needs</a:t>
            </a:r>
          </a:p>
        </p:txBody>
      </p:sp>
      <p:sp>
        <p:nvSpPr>
          <p:cNvPr id="210" name="HubBg"/>
          <p:cNvSpPr>
            <a:spLocks noGrp="1"/>
          </p:cNvSpPr>
          <p:nvPr/>
        </p:nvSpPr>
        <p:spPr>
          <a:xfrm>
            <a:off x="4826000" y="2476500"/>
            <a:ext cx="2540000" cy="1841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2700">
            <a:solidFill>
              <a:srgbClr val="4FC3F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1" name="HubLabel"/>
          <p:cNvSpPr>
            <a:spLocks noGrp="1"/>
          </p:cNvSpPr>
          <p:nvPr/>
        </p:nvSpPr>
        <p:spPr>
          <a:xfrm>
            <a:off x="4826000" y="2476500"/>
            <a:ext cx="2540000" cy="482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4FC3F7"/>
                </a:solidFill>
              </a:rPr>
              <a:t>SKILL INVENTORY</a:t>
            </a:r>
          </a:p>
        </p:txBody>
      </p:sp>
      <p:sp>
        <p:nvSpPr>
          <p:cNvPr id="212" name="HubSub"/>
          <p:cNvSpPr>
            <a:spLocks noGrp="1"/>
          </p:cNvSpPr>
          <p:nvPr/>
        </p:nvSpPr>
        <p:spPr>
          <a:xfrm>
            <a:off x="4826000" y="2857500"/>
            <a:ext cx="2540000" cy="1460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CCDDEE"/>
                </a:solidFill>
              </a:rPr>
              <a:t>All skills available to the system</a:t>
            </a:r>
          </a:p>
        </p:txBody>
      </p:sp>
      <p:sp>
        <p:nvSpPr>
          <p:cNvPr id="220" name="CtxPanel"/>
          <p:cNvSpPr>
            <a:spLocks noGrp="1"/>
          </p:cNvSpPr>
          <p:nvPr/>
        </p:nvSpPr>
        <p:spPr>
          <a:xfrm>
            <a:off x="254000" y="711200"/>
            <a:ext cx="4318000" cy="6045200"/>
          </a:xfrm>
          <a:prstGeom prst="roundRect">
            <a:avLst>
              <a:gd name="adj" fmla="val 10000"/>
            </a:avLst>
          </a:prstGeom>
          <a:solidFill>
            <a:srgbClr val="E8F4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1" name="CtxHeader"/>
          <p:cNvSpPr>
            <a:spLocks noGrp="1"/>
          </p:cNvSpPr>
          <p:nvPr/>
        </p:nvSpPr>
        <p:spPr>
          <a:xfrm>
            <a:off x="254000" y="711200"/>
            <a:ext cx="4318000" cy="50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22" name="CtxHeaderTxt"/>
          <p:cNvSpPr>
            <a:spLocks noGrp="1"/>
          </p:cNvSpPr>
          <p:nvPr/>
        </p:nvSpPr>
        <p:spPr>
          <a:xfrm>
            <a:off x="254000" y="711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500" b="1" i="0" dirty="0">
                <a:solidFill>
                  <a:srgbClr val="FFFFFF"/>
                </a:solidFill>
              </a:rPr>
              <a:t>CONTEXT — Full Access</a:t>
            </a:r>
          </a:p>
        </p:txBody>
      </p:sp>
      <p:sp>
        <p:nvSpPr>
          <p:cNvPr id="223" name="CtxSub"/>
          <p:cNvSpPr>
            <a:spLocks noGrp="1"/>
          </p:cNvSpPr>
          <p:nvPr/>
        </p:nvSpPr>
        <p:spPr>
          <a:xfrm>
            <a:off x="381000" y="12700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0" i="0" dirty="0">
                <a:solidFill>
                  <a:srgbClr val="1F4E79"/>
                </a:solidFill>
              </a:rPr>
              <a:t>Can draw on any skill at any time</a:t>
            </a:r>
          </a:p>
        </p:txBody>
      </p:sp>
      <p:sp>
        <p:nvSpPr>
          <p:cNvPr id="300" name="Chip_0"/>
          <p:cNvSpPr>
            <a:spLocks noGrp="1"/>
          </p:cNvSpPr>
          <p:nvPr/>
        </p:nvSpPr>
        <p:spPr>
          <a:xfrm>
            <a:off x="381000" y="17145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0" name="ChipTxt_0"/>
          <p:cNvSpPr>
            <a:spLocks noGrp="1"/>
          </p:cNvSpPr>
          <p:nvPr/>
        </p:nvSpPr>
        <p:spPr>
          <a:xfrm>
            <a:off x="381000" y="17145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Summarise</a:t>
            </a:r>
          </a:p>
        </p:txBody>
      </p:sp>
      <p:sp>
        <p:nvSpPr>
          <p:cNvPr id="301" name="Chip_1"/>
          <p:cNvSpPr>
            <a:spLocks noGrp="1"/>
          </p:cNvSpPr>
          <p:nvPr/>
        </p:nvSpPr>
        <p:spPr>
          <a:xfrm>
            <a:off x="1778000" y="17145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1" name="ChipTxt_1"/>
          <p:cNvSpPr>
            <a:spLocks noGrp="1"/>
          </p:cNvSpPr>
          <p:nvPr/>
        </p:nvSpPr>
        <p:spPr>
          <a:xfrm>
            <a:off x="1778000" y="17145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Translate</a:t>
            </a:r>
          </a:p>
        </p:txBody>
      </p:sp>
      <p:sp>
        <p:nvSpPr>
          <p:cNvPr id="302" name="Chip_2"/>
          <p:cNvSpPr>
            <a:spLocks noGrp="1"/>
          </p:cNvSpPr>
          <p:nvPr/>
        </p:nvSpPr>
        <p:spPr>
          <a:xfrm>
            <a:off x="3175000" y="17145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2" name="ChipTxt_2"/>
          <p:cNvSpPr>
            <a:spLocks noGrp="1"/>
          </p:cNvSpPr>
          <p:nvPr/>
        </p:nvSpPr>
        <p:spPr>
          <a:xfrm>
            <a:off x="3175000" y="17145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Classify</a:t>
            </a:r>
          </a:p>
        </p:txBody>
      </p:sp>
      <p:sp>
        <p:nvSpPr>
          <p:cNvPr id="303" name="Chip_3"/>
          <p:cNvSpPr>
            <a:spLocks noGrp="1"/>
          </p:cNvSpPr>
          <p:nvPr/>
        </p:nvSpPr>
        <p:spPr>
          <a:xfrm>
            <a:off x="381000" y="21463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3" name="ChipTxt_3"/>
          <p:cNvSpPr>
            <a:spLocks noGrp="1"/>
          </p:cNvSpPr>
          <p:nvPr/>
        </p:nvSpPr>
        <p:spPr>
          <a:xfrm>
            <a:off x="381000" y="21463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Extract</a:t>
            </a:r>
          </a:p>
        </p:txBody>
      </p:sp>
      <p:sp>
        <p:nvSpPr>
          <p:cNvPr id="304" name="Chip_4"/>
          <p:cNvSpPr>
            <a:spLocks noGrp="1"/>
          </p:cNvSpPr>
          <p:nvPr/>
        </p:nvSpPr>
        <p:spPr>
          <a:xfrm>
            <a:off x="1778000" y="21463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4" name="ChipTxt_4"/>
          <p:cNvSpPr>
            <a:spLocks noGrp="1"/>
          </p:cNvSpPr>
          <p:nvPr/>
        </p:nvSpPr>
        <p:spPr>
          <a:xfrm>
            <a:off x="1778000" y="21463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Compare</a:t>
            </a:r>
          </a:p>
        </p:txBody>
      </p:sp>
      <p:sp>
        <p:nvSpPr>
          <p:cNvPr id="305" name="Chip_5"/>
          <p:cNvSpPr>
            <a:spLocks noGrp="1"/>
          </p:cNvSpPr>
          <p:nvPr/>
        </p:nvSpPr>
        <p:spPr>
          <a:xfrm>
            <a:off x="3175000" y="21463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5" name="ChipTxt_5"/>
          <p:cNvSpPr>
            <a:spLocks noGrp="1"/>
          </p:cNvSpPr>
          <p:nvPr/>
        </p:nvSpPr>
        <p:spPr>
          <a:xfrm>
            <a:off x="3175000" y="21463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Write Code</a:t>
            </a:r>
          </a:p>
        </p:txBody>
      </p:sp>
      <p:sp>
        <p:nvSpPr>
          <p:cNvPr id="306" name="Chip_6"/>
          <p:cNvSpPr>
            <a:spLocks noGrp="1"/>
          </p:cNvSpPr>
          <p:nvPr/>
        </p:nvSpPr>
        <p:spPr>
          <a:xfrm>
            <a:off x="381000" y="25781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6" name="ChipTxt_6"/>
          <p:cNvSpPr>
            <a:spLocks noGrp="1"/>
          </p:cNvSpPr>
          <p:nvPr/>
        </p:nvSpPr>
        <p:spPr>
          <a:xfrm>
            <a:off x="381000" y="25781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Debug</a:t>
            </a:r>
          </a:p>
        </p:txBody>
      </p:sp>
      <p:sp>
        <p:nvSpPr>
          <p:cNvPr id="307" name="Chip_7"/>
          <p:cNvSpPr>
            <a:spLocks noGrp="1"/>
          </p:cNvSpPr>
          <p:nvPr/>
        </p:nvSpPr>
        <p:spPr>
          <a:xfrm>
            <a:off x="1778000" y="25781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7" name="ChipTxt_7"/>
          <p:cNvSpPr>
            <a:spLocks noGrp="1"/>
          </p:cNvSpPr>
          <p:nvPr/>
        </p:nvSpPr>
        <p:spPr>
          <a:xfrm>
            <a:off x="1778000" y="25781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Reformat</a:t>
            </a:r>
          </a:p>
        </p:txBody>
      </p:sp>
      <p:sp>
        <p:nvSpPr>
          <p:cNvPr id="308" name="Chip_8"/>
          <p:cNvSpPr>
            <a:spLocks noGrp="1"/>
          </p:cNvSpPr>
          <p:nvPr/>
        </p:nvSpPr>
        <p:spPr>
          <a:xfrm>
            <a:off x="3175000" y="25781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8" name="ChipTxt_8"/>
          <p:cNvSpPr>
            <a:spLocks noGrp="1"/>
          </p:cNvSpPr>
          <p:nvPr/>
        </p:nvSpPr>
        <p:spPr>
          <a:xfrm>
            <a:off x="3175000" y="25781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Search</a:t>
            </a:r>
          </a:p>
        </p:txBody>
      </p:sp>
      <p:sp>
        <p:nvSpPr>
          <p:cNvPr id="309" name="Chip_9"/>
          <p:cNvSpPr>
            <a:spLocks noGrp="1"/>
          </p:cNvSpPr>
          <p:nvPr/>
        </p:nvSpPr>
        <p:spPr>
          <a:xfrm>
            <a:off x="381000" y="30099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09" name="ChipTxt_9"/>
          <p:cNvSpPr>
            <a:spLocks noGrp="1"/>
          </p:cNvSpPr>
          <p:nvPr/>
        </p:nvSpPr>
        <p:spPr>
          <a:xfrm>
            <a:off x="381000" y="30099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Explain</a:t>
            </a:r>
          </a:p>
        </p:txBody>
      </p:sp>
      <p:sp>
        <p:nvSpPr>
          <p:cNvPr id="310" name="Chip_10"/>
          <p:cNvSpPr>
            <a:spLocks noGrp="1"/>
          </p:cNvSpPr>
          <p:nvPr/>
        </p:nvSpPr>
        <p:spPr>
          <a:xfrm>
            <a:off x="1778000" y="30099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0" name="ChipTxt_10"/>
          <p:cNvSpPr>
            <a:spLocks noGrp="1"/>
          </p:cNvSpPr>
          <p:nvPr/>
        </p:nvSpPr>
        <p:spPr>
          <a:xfrm>
            <a:off x="1778000" y="30099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Draft Email</a:t>
            </a:r>
          </a:p>
        </p:txBody>
      </p:sp>
      <p:sp>
        <p:nvSpPr>
          <p:cNvPr id="311" name="Chip_11"/>
          <p:cNvSpPr>
            <a:spLocks noGrp="1"/>
          </p:cNvSpPr>
          <p:nvPr/>
        </p:nvSpPr>
        <p:spPr>
          <a:xfrm>
            <a:off x="3175000" y="30099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1" name="ChipTxt_11"/>
          <p:cNvSpPr>
            <a:spLocks noGrp="1"/>
          </p:cNvSpPr>
          <p:nvPr/>
        </p:nvSpPr>
        <p:spPr>
          <a:xfrm>
            <a:off x="3175000" y="30099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Brainstorm</a:t>
            </a:r>
          </a:p>
        </p:txBody>
      </p:sp>
      <p:sp>
        <p:nvSpPr>
          <p:cNvPr id="312" name="Chip_12"/>
          <p:cNvSpPr>
            <a:spLocks noGrp="1"/>
          </p:cNvSpPr>
          <p:nvPr/>
        </p:nvSpPr>
        <p:spPr>
          <a:xfrm>
            <a:off x="381000" y="34417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2" name="ChipTxt_12"/>
          <p:cNvSpPr>
            <a:spLocks noGrp="1"/>
          </p:cNvSpPr>
          <p:nvPr/>
        </p:nvSpPr>
        <p:spPr>
          <a:xfrm>
            <a:off x="381000" y="34417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Critique</a:t>
            </a:r>
          </a:p>
        </p:txBody>
      </p:sp>
      <p:sp>
        <p:nvSpPr>
          <p:cNvPr id="313" name="Chip_13"/>
          <p:cNvSpPr>
            <a:spLocks noGrp="1"/>
          </p:cNvSpPr>
          <p:nvPr/>
        </p:nvSpPr>
        <p:spPr>
          <a:xfrm>
            <a:off x="1778000" y="34417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3" name="ChipTxt_13"/>
          <p:cNvSpPr>
            <a:spLocks noGrp="1"/>
          </p:cNvSpPr>
          <p:nvPr/>
        </p:nvSpPr>
        <p:spPr>
          <a:xfrm>
            <a:off x="1778000" y="34417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Synthesise</a:t>
            </a:r>
          </a:p>
        </p:txBody>
      </p:sp>
      <p:sp>
        <p:nvSpPr>
          <p:cNvPr id="314" name="Chip_14"/>
          <p:cNvSpPr>
            <a:spLocks noGrp="1"/>
          </p:cNvSpPr>
          <p:nvPr/>
        </p:nvSpPr>
        <p:spPr>
          <a:xfrm>
            <a:off x="3175000" y="34417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C7E3FF"/>
          </a:solidFill>
          <a:ln w="12700">
            <a:solidFill>
              <a:srgbClr val="1F4E7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4" name="ChipTxt_14"/>
          <p:cNvSpPr>
            <a:spLocks noGrp="1"/>
          </p:cNvSpPr>
          <p:nvPr/>
        </p:nvSpPr>
        <p:spPr>
          <a:xfrm>
            <a:off x="3175000" y="34417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1F4E79"/>
                </a:solidFill>
              </a:rPr>
              <a:t>Plan</a:t>
            </a:r>
          </a:p>
        </p:txBody>
      </p:sp>
      <p:sp>
        <p:nvSpPr>
          <p:cNvPr id="500" name="PerPanel"/>
          <p:cNvSpPr>
            <a:spLocks noGrp="1"/>
          </p:cNvSpPr>
          <p:nvPr/>
        </p:nvSpPr>
        <p:spPr>
          <a:xfrm>
            <a:off x="7620000" y="711200"/>
            <a:ext cx="4318000" cy="6045200"/>
          </a:xfrm>
          <a:prstGeom prst="roundRect">
            <a:avLst>
              <a:gd name="adj" fmla="val 10000"/>
            </a:avLst>
          </a:prstGeom>
          <a:solidFill>
            <a:srgbClr val="F6EAFD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501" name="PerHeader"/>
          <p:cNvSpPr>
            <a:spLocks noGrp="1"/>
          </p:cNvSpPr>
          <p:nvPr/>
        </p:nvSpPr>
        <p:spPr>
          <a:xfrm>
            <a:off x="7620000" y="711200"/>
            <a:ext cx="4318000" cy="508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502" name="PerHeaderTxt"/>
          <p:cNvSpPr>
            <a:spLocks noGrp="1"/>
          </p:cNvSpPr>
          <p:nvPr/>
        </p:nvSpPr>
        <p:spPr>
          <a:xfrm>
            <a:off x="7620000" y="711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500" b="1" i="0" dirty="0">
                <a:solidFill>
                  <a:srgbClr val="FFFFFF"/>
                </a:solidFill>
              </a:rPr>
              <a:t>PERSONA — Assigned Skills</a:t>
            </a:r>
          </a:p>
        </p:txBody>
      </p:sp>
      <p:sp>
        <p:nvSpPr>
          <p:cNvPr id="503" name="PerSub"/>
          <p:cNvSpPr>
            <a:spLocks noGrp="1"/>
          </p:cNvSpPr>
          <p:nvPr/>
        </p:nvSpPr>
        <p:spPr>
          <a:xfrm>
            <a:off x="7747000" y="12700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0" i="0" dirty="0">
                <a:solidFill>
                  <a:srgbClr val="7B2D8E"/>
                </a:solidFill>
              </a:rPr>
              <a:t>Only specific skills assigned to this role</a:t>
            </a:r>
          </a:p>
        </p:txBody>
      </p:sp>
      <p:sp>
        <p:nvSpPr>
          <p:cNvPr id="504" name="PersonaBadge"/>
          <p:cNvSpPr>
            <a:spLocks noGrp="1"/>
          </p:cNvSpPr>
          <p:nvPr/>
        </p:nvSpPr>
        <p:spPr>
          <a:xfrm>
            <a:off x="8255000" y="1701800"/>
            <a:ext cx="3048000" cy="457200"/>
          </a:xfrm>
          <a:prstGeom prst="roundRect">
            <a:avLst>
              <a:gd name="adj" fmla="val 30000"/>
            </a:avLst>
          </a:prstGeom>
          <a:solidFill>
            <a:srgbClr val="7B2D8E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505" name="PersonaName"/>
          <p:cNvSpPr>
            <a:spLocks noGrp="1"/>
          </p:cNvSpPr>
          <p:nvPr/>
        </p:nvSpPr>
        <p:spPr>
          <a:xfrm>
            <a:off x="8255000" y="17018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1" i="0" dirty="0">
                <a:solidFill>
                  <a:srgbClr val="FFFFFF"/>
                </a:solidFill>
              </a:rPr>
              <a:t>★  Sales Assistant Persona</a:t>
            </a:r>
          </a:p>
        </p:txBody>
      </p:sp>
      <p:sp>
        <p:nvSpPr>
          <p:cNvPr id="600" name="AChip_0"/>
          <p:cNvSpPr>
            <a:spLocks noGrp="1"/>
          </p:cNvSpPr>
          <p:nvPr/>
        </p:nvSpPr>
        <p:spPr>
          <a:xfrm>
            <a:off x="7874000" y="23114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8C8F8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00" name="AChipTxt_0"/>
          <p:cNvSpPr>
            <a:spLocks noGrp="1"/>
          </p:cNvSpPr>
          <p:nvPr/>
        </p:nvSpPr>
        <p:spPr>
          <a:xfrm>
            <a:off x="7874000" y="2311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7B2D8E"/>
                </a:solidFill>
              </a:rPr>
              <a:t>Summarise</a:t>
            </a:r>
          </a:p>
        </p:txBody>
      </p:sp>
      <p:sp>
        <p:nvSpPr>
          <p:cNvPr id="601" name="AChip_1"/>
          <p:cNvSpPr>
            <a:spLocks noGrp="1"/>
          </p:cNvSpPr>
          <p:nvPr/>
        </p:nvSpPr>
        <p:spPr>
          <a:xfrm>
            <a:off x="9906000" y="23114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8C8F8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01" name="AChipTxt_1"/>
          <p:cNvSpPr>
            <a:spLocks noGrp="1"/>
          </p:cNvSpPr>
          <p:nvPr/>
        </p:nvSpPr>
        <p:spPr>
          <a:xfrm>
            <a:off x="9906000" y="2311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7B2D8E"/>
                </a:solidFill>
              </a:rPr>
              <a:t>Draft Email</a:t>
            </a:r>
          </a:p>
        </p:txBody>
      </p:sp>
      <p:sp>
        <p:nvSpPr>
          <p:cNvPr id="602" name="AChip_2"/>
          <p:cNvSpPr>
            <a:spLocks noGrp="1"/>
          </p:cNvSpPr>
          <p:nvPr/>
        </p:nvSpPr>
        <p:spPr>
          <a:xfrm>
            <a:off x="7874000" y="28194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8C8F8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02" name="AChipTxt_2"/>
          <p:cNvSpPr>
            <a:spLocks noGrp="1"/>
          </p:cNvSpPr>
          <p:nvPr/>
        </p:nvSpPr>
        <p:spPr>
          <a:xfrm>
            <a:off x="7874000" y="2819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7B2D8E"/>
                </a:solidFill>
              </a:rPr>
              <a:t>Brainstorm</a:t>
            </a:r>
          </a:p>
        </p:txBody>
      </p:sp>
      <p:sp>
        <p:nvSpPr>
          <p:cNvPr id="603" name="AChip_3"/>
          <p:cNvSpPr>
            <a:spLocks noGrp="1"/>
          </p:cNvSpPr>
          <p:nvPr/>
        </p:nvSpPr>
        <p:spPr>
          <a:xfrm>
            <a:off x="9906000" y="28194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8C8F8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03" name="AChipTxt_3"/>
          <p:cNvSpPr>
            <a:spLocks noGrp="1"/>
          </p:cNvSpPr>
          <p:nvPr/>
        </p:nvSpPr>
        <p:spPr>
          <a:xfrm>
            <a:off x="9906000" y="2819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7B2D8E"/>
                </a:solidFill>
              </a:rPr>
              <a:t>Classify</a:t>
            </a:r>
          </a:p>
        </p:txBody>
      </p:sp>
      <p:sp>
        <p:nvSpPr>
          <p:cNvPr id="604" name="AChip_4"/>
          <p:cNvSpPr>
            <a:spLocks noGrp="1"/>
          </p:cNvSpPr>
          <p:nvPr/>
        </p:nvSpPr>
        <p:spPr>
          <a:xfrm>
            <a:off x="7874000" y="33274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8C8F8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04" name="AChipTxt_4"/>
          <p:cNvSpPr>
            <a:spLocks noGrp="1"/>
          </p:cNvSpPr>
          <p:nvPr/>
        </p:nvSpPr>
        <p:spPr>
          <a:xfrm>
            <a:off x="7874000" y="3327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7B2D8E"/>
                </a:solidFill>
              </a:rPr>
              <a:t>Synthesise</a:t>
            </a:r>
          </a:p>
        </p:txBody>
      </p:sp>
      <p:sp>
        <p:nvSpPr>
          <p:cNvPr id="605" name="AChip_5"/>
          <p:cNvSpPr>
            <a:spLocks noGrp="1"/>
          </p:cNvSpPr>
          <p:nvPr/>
        </p:nvSpPr>
        <p:spPr>
          <a:xfrm>
            <a:off x="9906000" y="33274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8C8F8"/>
          </a:solidFill>
          <a:ln w="12700">
            <a:solidFill>
              <a:srgbClr val="7B2D8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05" name="AChipTxt_5"/>
          <p:cNvSpPr>
            <a:spLocks noGrp="1"/>
          </p:cNvSpPr>
          <p:nvPr/>
        </p:nvSpPr>
        <p:spPr>
          <a:xfrm>
            <a:off x="9906000" y="3327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7B2D8E"/>
                </a:solidFill>
              </a:rPr>
              <a:t>Plan</a:t>
            </a:r>
          </a:p>
        </p:txBody>
      </p:sp>
      <p:sp>
        <p:nvSpPr>
          <p:cNvPr id="800" name="UnassignedLabel"/>
          <p:cNvSpPr>
            <a:spLocks noGrp="1"/>
          </p:cNvSpPr>
          <p:nvPr/>
        </p:nvSpPr>
        <p:spPr>
          <a:xfrm>
            <a:off x="7747000" y="41275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100" b="1" i="0" dirty="0">
                <a:solidFill>
                  <a:srgbClr val="444444"/>
                </a:solidFill>
              </a:rPr>
              <a:t>Not assigned to this persona:</a:t>
            </a:r>
          </a:p>
        </p:txBody>
      </p:sp>
      <p:sp>
        <p:nvSpPr>
          <p:cNvPr id="810" name="UChip_0"/>
          <p:cNvSpPr>
            <a:spLocks noGrp="1"/>
          </p:cNvSpPr>
          <p:nvPr/>
        </p:nvSpPr>
        <p:spPr>
          <a:xfrm>
            <a:off x="7874000" y="43180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20" name="UChipTxt_0"/>
          <p:cNvSpPr>
            <a:spLocks noGrp="1"/>
          </p:cNvSpPr>
          <p:nvPr/>
        </p:nvSpPr>
        <p:spPr>
          <a:xfrm>
            <a:off x="7874000" y="4318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222222"/>
                </a:solidFill>
              </a:rPr>
              <a:t>Write Code</a:t>
            </a:r>
          </a:p>
        </p:txBody>
      </p:sp>
      <p:sp>
        <p:nvSpPr>
          <p:cNvPr id="811" name="UChip_1"/>
          <p:cNvSpPr>
            <a:spLocks noGrp="1"/>
          </p:cNvSpPr>
          <p:nvPr/>
        </p:nvSpPr>
        <p:spPr>
          <a:xfrm>
            <a:off x="9906000" y="43180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21" name="UChipTxt_1"/>
          <p:cNvSpPr>
            <a:spLocks noGrp="1"/>
          </p:cNvSpPr>
          <p:nvPr/>
        </p:nvSpPr>
        <p:spPr>
          <a:xfrm>
            <a:off x="9906000" y="4318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222222"/>
                </a:solidFill>
              </a:rPr>
              <a:t>Debug</a:t>
            </a:r>
          </a:p>
        </p:txBody>
      </p:sp>
      <p:sp>
        <p:nvSpPr>
          <p:cNvPr id="812" name="UChip_2"/>
          <p:cNvSpPr>
            <a:spLocks noGrp="1"/>
          </p:cNvSpPr>
          <p:nvPr/>
        </p:nvSpPr>
        <p:spPr>
          <a:xfrm>
            <a:off x="7874000" y="46736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22" name="UChipTxt_2"/>
          <p:cNvSpPr>
            <a:spLocks noGrp="1"/>
          </p:cNvSpPr>
          <p:nvPr/>
        </p:nvSpPr>
        <p:spPr>
          <a:xfrm>
            <a:off x="7874000" y="46736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222222"/>
                </a:solidFill>
              </a:rPr>
              <a:t>Translate</a:t>
            </a:r>
          </a:p>
        </p:txBody>
      </p:sp>
      <p:sp>
        <p:nvSpPr>
          <p:cNvPr id="813" name="UChip_3"/>
          <p:cNvSpPr>
            <a:spLocks noGrp="1"/>
          </p:cNvSpPr>
          <p:nvPr/>
        </p:nvSpPr>
        <p:spPr>
          <a:xfrm>
            <a:off x="9906000" y="46736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23" name="UChipTxt_3"/>
          <p:cNvSpPr>
            <a:spLocks noGrp="1"/>
          </p:cNvSpPr>
          <p:nvPr/>
        </p:nvSpPr>
        <p:spPr>
          <a:xfrm>
            <a:off x="9906000" y="46736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222222"/>
                </a:solidFill>
              </a:rPr>
              <a:t>Search</a:t>
            </a:r>
          </a:p>
        </p:txBody>
      </p:sp>
      <p:sp>
        <p:nvSpPr>
          <p:cNvPr id="814" name="UChip_4"/>
          <p:cNvSpPr>
            <a:spLocks noGrp="1"/>
          </p:cNvSpPr>
          <p:nvPr/>
        </p:nvSpPr>
        <p:spPr>
          <a:xfrm>
            <a:off x="7874000" y="50292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24" name="UChipTxt_4"/>
          <p:cNvSpPr>
            <a:spLocks noGrp="1"/>
          </p:cNvSpPr>
          <p:nvPr/>
        </p:nvSpPr>
        <p:spPr>
          <a:xfrm>
            <a:off x="7874000" y="5029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222222"/>
                </a:solidFill>
              </a:rPr>
              <a:t>Reformat</a:t>
            </a:r>
          </a:p>
        </p:txBody>
      </p:sp>
      <p:sp>
        <p:nvSpPr>
          <p:cNvPr id="815" name="UChip_5"/>
          <p:cNvSpPr>
            <a:spLocks noGrp="1"/>
          </p:cNvSpPr>
          <p:nvPr/>
        </p:nvSpPr>
        <p:spPr>
          <a:xfrm>
            <a:off x="9906000" y="50292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25" name="UChipTxt_5"/>
          <p:cNvSpPr>
            <a:spLocks noGrp="1"/>
          </p:cNvSpPr>
          <p:nvPr/>
        </p:nvSpPr>
        <p:spPr>
          <a:xfrm>
            <a:off x="9906000" y="5029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222222"/>
                </a:solidFill>
              </a:rPr>
              <a:t>Extract</a:t>
            </a:r>
          </a:p>
        </p:txBody>
      </p:sp>
      <p:sp>
        <p:nvSpPr>
          <p:cNvPr id="900" name="Line900"/>
          <p:cNvSpPr>
            <a:spLocks noGrp="1"/>
          </p:cNvSpPr>
          <p:nvPr/>
        </p:nvSpPr>
        <p:spPr>
          <a:xfrm>
            <a:off x="4572000" y="3403600"/>
            <a:ext cx="254000" cy="12700"/>
          </a:xfrm>
          <a:prstGeom prst="line">
            <a:avLst/>
          </a:prstGeom>
          <a:noFill/>
          <a:ln w="180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1" name="Line901"/>
          <p:cNvSpPr>
            <a:spLocks noGrp="1"/>
          </p:cNvSpPr>
          <p:nvPr/>
        </p:nvSpPr>
        <p:spPr>
          <a:xfrm>
            <a:off x="7366000" y="3403600"/>
            <a:ext cx="254000" cy="12700"/>
          </a:xfrm>
          <a:prstGeom prst="line">
            <a:avLst/>
          </a:prstGeom>
          <a:noFill/>
          <a:ln w="18000">
            <a:solidFill>
              <a:srgbClr val="7B2D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2" name="LineLabel1"/>
          <p:cNvSpPr>
            <a:spLocks noGrp="1"/>
          </p:cNvSpPr>
          <p:nvPr/>
        </p:nvSpPr>
        <p:spPr>
          <a:xfrm>
            <a:off x="4572000" y="31496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i="0" dirty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903" name="LineLabel2"/>
          <p:cNvSpPr>
            <a:spLocks noGrp="1"/>
          </p:cNvSpPr>
          <p:nvPr/>
        </p:nvSpPr>
        <p:spPr>
          <a:xfrm>
            <a:off x="7366000" y="3149600"/>
            <a:ext cx="254000" cy="228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i="0" dirty="0">
                <a:solidFill>
                  <a:srgbClr val="7B2D8E"/>
                </a:solidFill>
              </a:rPr>
              <a:t>→</a:t>
            </a:r>
          </a:p>
        </p:txBody>
      </p:sp>
      <p:sp>
        <p:nvSpPr>
          <p:cNvPr id="950" name="KeyBg"/>
          <p:cNvSpPr>
            <a:spLocks noGrp="1"/>
          </p:cNvSpPr>
          <p:nvPr/>
        </p:nvSpPr>
        <p:spPr>
          <a:xfrm>
            <a:off x="254000" y="6350000"/>
            <a:ext cx="11684000" cy="406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951" name="KeyTxt"/>
          <p:cNvSpPr>
            <a:spLocks noGrp="1"/>
          </p:cNvSpPr>
          <p:nvPr/>
        </p:nvSpPr>
        <p:spPr>
          <a:xfrm>
            <a:off x="254000" y="6350000"/>
            <a:ext cx="11684000" cy="406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i="0" dirty="0">
                <a:solidFill>
                  <a:srgbClr val="666666"/>
                </a:solidFill>
              </a:rPr>
              <a:t>Context pulls from the full inventory each turn  ·  Persona is pre-configured with a fixed skill set  ·  Unassigned skills are unavailable to the persona</a:t>
            </a:r>
          </a:p>
        </p:txBody>
      </p:sp>
    </p:spTree>
    <p:extLst>
      <p:ext uri="{BB962C8B-B14F-4D97-AF65-F5344CB8AC3E}">
        <p14:creationId xmlns:p14="http://schemas.microsoft.com/office/powerpoint/2010/main" val="89134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b"/>
          <p:cNvSpPr>
            <a:spLocks noGrp="1"/>
          </p:cNvSpPr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02" name="t"/>
          <p:cNvSpPr>
            <a:spLocks noGrp="1"/>
          </p:cNvSpPr>
          <p:nvPr/>
        </p:nvSpPr>
        <p:spPr>
          <a:xfrm>
            <a:off x="0" y="0"/>
            <a:ext cx="12192000" cy="558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Persona Handoff  ·  AI Agents Collaborating</a:t>
            </a:r>
          </a:p>
        </p:txBody>
      </p:sp>
      <p:sp>
        <p:nvSpPr>
          <p:cNvPr id="203" name="b"/>
          <p:cNvSpPr>
            <a:spLocks noGrp="1"/>
          </p:cNvSpPr>
          <p:nvPr/>
        </p:nvSpPr>
        <p:spPr>
          <a:xfrm>
            <a:off x="1333500" y="635000"/>
            <a:ext cx="1016000" cy="1016000"/>
          </a:xfrm>
          <a:prstGeom prst="ellipse">
            <a:avLst/>
          </a:prstGeom>
          <a:noFill/>
          <a:ln w="12700">
            <a:solidFill>
              <a:srgbClr val="1A7FB5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4" name="b"/>
          <p:cNvSpPr>
            <a:spLocks noGrp="1"/>
          </p:cNvSpPr>
          <p:nvPr/>
        </p:nvSpPr>
        <p:spPr>
          <a:xfrm>
            <a:off x="1384300" y="685800"/>
            <a:ext cx="914400" cy="914400"/>
          </a:xfrm>
          <a:prstGeom prst="ellipse">
            <a:avLst/>
          </a:prstGeom>
          <a:solidFill>
            <a:srgbClr val="D0EEFA"/>
          </a:solidFill>
          <a:ln w="12700">
            <a:solidFill>
              <a:srgbClr val="1A7FB5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05" name="t"/>
          <p:cNvSpPr>
            <a:spLocks noGrp="1"/>
          </p:cNvSpPr>
          <p:nvPr/>
        </p:nvSpPr>
        <p:spPr>
          <a:xfrm>
            <a:off x="1384300" y="685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2200" b="1" dirty="0">
                <a:solidFill>
                  <a:srgbClr val="1A7FB5"/>
                </a:solidFill>
              </a:rPr>
              <a:t>C</a:t>
            </a:r>
          </a:p>
        </p:txBody>
      </p:sp>
      <p:sp>
        <p:nvSpPr>
          <p:cNvPr id="206" name="t"/>
          <p:cNvSpPr>
            <a:spLocks noGrp="1"/>
          </p:cNvSpPr>
          <p:nvPr/>
        </p:nvSpPr>
        <p:spPr>
          <a:xfrm>
            <a:off x="1130300" y="16637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DD4F8"/>
                </a:solidFill>
              </a:rPr>
              <a:t>Clair</a:t>
            </a:r>
          </a:p>
        </p:txBody>
      </p:sp>
      <p:sp>
        <p:nvSpPr>
          <p:cNvPr id="207" name="b"/>
          <p:cNvSpPr>
            <a:spLocks noGrp="1"/>
          </p:cNvSpPr>
          <p:nvPr/>
        </p:nvSpPr>
        <p:spPr>
          <a:xfrm>
            <a:off x="1282700" y="1943100"/>
            <a:ext cx="1117600" cy="241300"/>
          </a:xfrm>
          <a:prstGeom prst="roundRect">
            <a:avLst>
              <a:gd name="adj" fmla="val 30000"/>
            </a:avLst>
          </a:prstGeom>
          <a:solidFill>
            <a:srgbClr val="1A7FB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08" name="t"/>
          <p:cNvSpPr>
            <a:spLocks noGrp="1"/>
          </p:cNvSpPr>
          <p:nvPr/>
        </p:nvSpPr>
        <p:spPr>
          <a:xfrm>
            <a:off x="1282700" y="1943100"/>
            <a:ext cx="1117600" cy="2413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IT Support</a:t>
            </a:r>
          </a:p>
        </p:txBody>
      </p:sp>
      <p:sp>
        <p:nvSpPr>
          <p:cNvPr id="209" name="b"/>
          <p:cNvSpPr>
            <a:spLocks noGrp="1"/>
          </p:cNvSpPr>
          <p:nvPr/>
        </p:nvSpPr>
        <p:spPr>
          <a:xfrm>
            <a:off x="5588000" y="635000"/>
            <a:ext cx="1016000" cy="1016000"/>
          </a:xfrm>
          <a:prstGeom prst="ellipse">
            <a:avLst/>
          </a:prstGeom>
          <a:noFill/>
          <a:ln w="12700">
            <a:solidFill>
              <a:srgbClr val="1F8A5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0" name="b"/>
          <p:cNvSpPr>
            <a:spLocks noGrp="1"/>
          </p:cNvSpPr>
          <p:nvPr/>
        </p:nvSpPr>
        <p:spPr>
          <a:xfrm>
            <a:off x="5638800" y="685800"/>
            <a:ext cx="914400" cy="914400"/>
          </a:xfrm>
          <a:prstGeom prst="ellipse">
            <a:avLst/>
          </a:prstGeom>
          <a:solidFill>
            <a:srgbClr val="C5EEE0"/>
          </a:solidFill>
          <a:ln w="12700">
            <a:solidFill>
              <a:srgbClr val="1F8A5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1" name="t"/>
          <p:cNvSpPr>
            <a:spLocks noGrp="1"/>
          </p:cNvSpPr>
          <p:nvPr/>
        </p:nvSpPr>
        <p:spPr>
          <a:xfrm>
            <a:off x="5638800" y="685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2200" b="1" dirty="0">
                <a:solidFill>
                  <a:srgbClr val="1F8A5E"/>
                </a:solidFill>
              </a:rPr>
              <a:t>S</a:t>
            </a:r>
          </a:p>
        </p:txBody>
      </p:sp>
      <p:sp>
        <p:nvSpPr>
          <p:cNvPr id="212" name="t"/>
          <p:cNvSpPr>
            <a:spLocks noGrp="1"/>
          </p:cNvSpPr>
          <p:nvPr/>
        </p:nvSpPr>
        <p:spPr>
          <a:xfrm>
            <a:off x="5384800" y="16637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BDDB6"/>
                </a:solidFill>
              </a:rPr>
              <a:t>Steve</a:t>
            </a:r>
          </a:p>
        </p:txBody>
      </p:sp>
      <p:sp>
        <p:nvSpPr>
          <p:cNvPr id="213" name="b"/>
          <p:cNvSpPr>
            <a:spLocks noGrp="1"/>
          </p:cNvSpPr>
          <p:nvPr/>
        </p:nvSpPr>
        <p:spPr>
          <a:xfrm>
            <a:off x="5537200" y="1943100"/>
            <a:ext cx="1117600" cy="241300"/>
          </a:xfrm>
          <a:prstGeom prst="roundRect">
            <a:avLst>
              <a:gd name="adj" fmla="val 30000"/>
            </a:avLst>
          </a:prstGeom>
          <a:solidFill>
            <a:srgbClr val="1F8A5E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14" name="t"/>
          <p:cNvSpPr>
            <a:spLocks noGrp="1"/>
          </p:cNvSpPr>
          <p:nvPr/>
        </p:nvSpPr>
        <p:spPr>
          <a:xfrm>
            <a:off x="5537200" y="1943100"/>
            <a:ext cx="1117600" cy="2413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Sysadmin</a:t>
            </a:r>
          </a:p>
        </p:txBody>
      </p:sp>
      <p:sp>
        <p:nvSpPr>
          <p:cNvPr id="215" name="b"/>
          <p:cNvSpPr>
            <a:spLocks noGrp="1"/>
          </p:cNvSpPr>
          <p:nvPr/>
        </p:nvSpPr>
        <p:spPr>
          <a:xfrm>
            <a:off x="9842500" y="635000"/>
            <a:ext cx="1016000" cy="1016000"/>
          </a:xfrm>
          <a:prstGeom prst="ellipse">
            <a:avLst/>
          </a:prstGeom>
          <a:noFill/>
          <a:ln w="12700">
            <a:solidFill>
              <a:srgbClr val="8E3BA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6" name="b"/>
          <p:cNvSpPr>
            <a:spLocks noGrp="1"/>
          </p:cNvSpPr>
          <p:nvPr/>
        </p:nvSpPr>
        <p:spPr>
          <a:xfrm>
            <a:off x="9893300" y="685800"/>
            <a:ext cx="914400" cy="914400"/>
          </a:xfrm>
          <a:prstGeom prst="ellipse">
            <a:avLst/>
          </a:prstGeom>
          <a:solidFill>
            <a:srgbClr val="EDD9F7"/>
          </a:solidFill>
          <a:ln w="12700">
            <a:solidFill>
              <a:srgbClr val="8E3BA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17" name="t"/>
          <p:cNvSpPr>
            <a:spLocks noGrp="1"/>
          </p:cNvSpPr>
          <p:nvPr/>
        </p:nvSpPr>
        <p:spPr>
          <a:xfrm>
            <a:off x="9893300" y="685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2200" b="1" dirty="0">
                <a:solidFill>
                  <a:srgbClr val="8E3BAA"/>
                </a:solidFill>
              </a:rPr>
              <a:t>N</a:t>
            </a:r>
          </a:p>
        </p:txBody>
      </p:sp>
      <p:sp>
        <p:nvSpPr>
          <p:cNvPr id="218" name="t"/>
          <p:cNvSpPr>
            <a:spLocks noGrp="1"/>
          </p:cNvSpPr>
          <p:nvPr/>
        </p:nvSpPr>
        <p:spPr>
          <a:xfrm>
            <a:off x="9639300" y="16637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49EE8"/>
                </a:solidFill>
              </a:rPr>
              <a:t>Nichole</a:t>
            </a:r>
          </a:p>
        </p:txBody>
      </p:sp>
      <p:sp>
        <p:nvSpPr>
          <p:cNvPr id="219" name="b"/>
          <p:cNvSpPr>
            <a:spLocks noGrp="1"/>
          </p:cNvSpPr>
          <p:nvPr/>
        </p:nvSpPr>
        <p:spPr>
          <a:xfrm>
            <a:off x="9791700" y="1943100"/>
            <a:ext cx="1117600" cy="241300"/>
          </a:xfrm>
          <a:prstGeom prst="roundRect">
            <a:avLst>
              <a:gd name="adj" fmla="val 30000"/>
            </a:avLst>
          </a:prstGeom>
          <a:solidFill>
            <a:srgbClr val="8E3BAA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20" name="t"/>
          <p:cNvSpPr>
            <a:spLocks noGrp="1"/>
          </p:cNvSpPr>
          <p:nvPr/>
        </p:nvSpPr>
        <p:spPr>
          <a:xfrm>
            <a:off x="9791700" y="1943100"/>
            <a:ext cx="1117600" cy="2413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221" name="b"/>
          <p:cNvSpPr>
            <a:spLocks noGrp="1"/>
          </p:cNvSpPr>
          <p:nvPr/>
        </p:nvSpPr>
        <p:spPr>
          <a:xfrm>
            <a:off x="2362200" y="1130300"/>
            <a:ext cx="3213100" cy="25400"/>
          </a:xfrm>
          <a:prstGeom prst="rect">
            <a:avLst/>
          </a:prstGeom>
          <a:solidFill>
            <a:srgbClr val="2A4466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22" name="b"/>
          <p:cNvSpPr>
            <a:spLocks noGrp="1"/>
          </p:cNvSpPr>
          <p:nvPr/>
        </p:nvSpPr>
        <p:spPr>
          <a:xfrm>
            <a:off x="6616700" y="1130300"/>
            <a:ext cx="3213100" cy="25400"/>
          </a:xfrm>
          <a:prstGeom prst="rect">
            <a:avLst/>
          </a:prstGeom>
          <a:solidFill>
            <a:srgbClr val="2A4466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23" name="b"/>
          <p:cNvSpPr>
            <a:spLocks noGrp="1"/>
          </p:cNvSpPr>
          <p:nvPr/>
        </p:nvSpPr>
        <p:spPr>
          <a:xfrm>
            <a:off x="2349500" y="2501900"/>
            <a:ext cx="171450" cy="25400"/>
          </a:xfrm>
          <a:prstGeom prst="rect">
            <a:avLst/>
          </a:prstGeom>
          <a:solidFill>
            <a:srgbClr val="1A7FB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24" name="b"/>
          <p:cNvSpPr>
            <a:spLocks noGrp="1"/>
          </p:cNvSpPr>
          <p:nvPr/>
        </p:nvSpPr>
        <p:spPr>
          <a:xfrm>
            <a:off x="2571750" y="2286000"/>
            <a:ext cx="2794000" cy="457200"/>
          </a:xfrm>
          <a:prstGeom prst="roundRect">
            <a:avLst>
              <a:gd name="adj" fmla="val 20000"/>
            </a:avLst>
          </a:prstGeom>
          <a:solidFill>
            <a:srgbClr val="CBE9F7"/>
          </a:solidFill>
          <a:ln w="12700">
            <a:solidFill>
              <a:srgbClr val="1A7FB5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5" name="t"/>
          <p:cNvSpPr>
            <a:spLocks noGrp="1"/>
          </p:cNvSpPr>
          <p:nvPr/>
        </p:nvSpPr>
        <p:spPr>
          <a:xfrm>
            <a:off x="2622550" y="2286000"/>
            <a:ext cx="26924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0" dirty="0">
                <a:solidFill>
                  <a:srgbClr val="111122"/>
                </a:solidFill>
              </a:rPr>
              <a:t>Can you set up my login?</a:t>
            </a:r>
          </a:p>
        </p:txBody>
      </p:sp>
      <p:sp>
        <p:nvSpPr>
          <p:cNvPr id="226" name="t"/>
          <p:cNvSpPr>
            <a:spLocks noGrp="1"/>
          </p:cNvSpPr>
          <p:nvPr/>
        </p:nvSpPr>
        <p:spPr>
          <a:xfrm>
            <a:off x="2571750" y="20320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A7FB5"/>
                </a:solidFill>
              </a:rPr>
              <a:t>Clair  →  Steve</a:t>
            </a:r>
          </a:p>
        </p:txBody>
      </p:sp>
      <p:sp>
        <p:nvSpPr>
          <p:cNvPr id="227" name="b"/>
          <p:cNvSpPr>
            <a:spLocks noGrp="1"/>
          </p:cNvSpPr>
          <p:nvPr/>
        </p:nvSpPr>
        <p:spPr>
          <a:xfrm>
            <a:off x="4718050" y="3416300"/>
            <a:ext cx="869950" cy="25400"/>
          </a:xfrm>
          <a:prstGeom prst="rect">
            <a:avLst/>
          </a:prstGeom>
          <a:solidFill>
            <a:srgbClr val="1F8A5E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28" name="b"/>
          <p:cNvSpPr>
            <a:spLocks noGrp="1"/>
          </p:cNvSpPr>
          <p:nvPr/>
        </p:nvSpPr>
        <p:spPr>
          <a:xfrm>
            <a:off x="3270250" y="3200400"/>
            <a:ext cx="1397000" cy="457200"/>
          </a:xfrm>
          <a:prstGeom prst="roundRect">
            <a:avLst>
              <a:gd name="adj" fmla="val 20000"/>
            </a:avLst>
          </a:prstGeom>
          <a:solidFill>
            <a:srgbClr val="C8EFE0"/>
          </a:solidFill>
          <a:ln w="12700">
            <a:solidFill>
              <a:srgbClr val="1F8A5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29" name="t"/>
          <p:cNvSpPr>
            <a:spLocks noGrp="1"/>
          </p:cNvSpPr>
          <p:nvPr/>
        </p:nvSpPr>
        <p:spPr>
          <a:xfrm>
            <a:off x="3321050" y="32004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0" dirty="0">
                <a:solidFill>
                  <a:srgbClr val="111122"/>
                </a:solidFill>
              </a:rPr>
              <a:t>Sure</a:t>
            </a:r>
          </a:p>
        </p:txBody>
      </p:sp>
      <p:sp>
        <p:nvSpPr>
          <p:cNvPr id="230" name="t"/>
          <p:cNvSpPr>
            <a:spLocks noGrp="1"/>
          </p:cNvSpPr>
          <p:nvPr/>
        </p:nvSpPr>
        <p:spPr>
          <a:xfrm>
            <a:off x="3270250" y="29464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F8A5E"/>
                </a:solidFill>
              </a:rPr>
              <a:t>Steve  →  Clair</a:t>
            </a:r>
          </a:p>
        </p:txBody>
      </p:sp>
      <p:sp>
        <p:nvSpPr>
          <p:cNvPr id="231" name="b"/>
          <p:cNvSpPr>
            <a:spLocks noGrp="1"/>
          </p:cNvSpPr>
          <p:nvPr/>
        </p:nvSpPr>
        <p:spPr>
          <a:xfrm>
            <a:off x="4718050" y="4279900"/>
            <a:ext cx="869950" cy="25400"/>
          </a:xfrm>
          <a:prstGeom prst="rect">
            <a:avLst/>
          </a:prstGeom>
          <a:solidFill>
            <a:srgbClr val="1F8A5E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32" name="b"/>
          <p:cNvSpPr>
            <a:spLocks noGrp="1"/>
          </p:cNvSpPr>
          <p:nvPr/>
        </p:nvSpPr>
        <p:spPr>
          <a:xfrm>
            <a:off x="3270250" y="4064000"/>
            <a:ext cx="1397000" cy="457200"/>
          </a:xfrm>
          <a:prstGeom prst="roundRect">
            <a:avLst>
              <a:gd name="adj" fmla="val 20000"/>
            </a:avLst>
          </a:prstGeom>
          <a:solidFill>
            <a:srgbClr val="C8EFE0"/>
          </a:solidFill>
          <a:ln w="12700">
            <a:solidFill>
              <a:srgbClr val="1F8A5E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3" name="t"/>
          <p:cNvSpPr>
            <a:spLocks noGrp="1"/>
          </p:cNvSpPr>
          <p:nvPr/>
        </p:nvSpPr>
        <p:spPr>
          <a:xfrm>
            <a:off x="3321050" y="40640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0" dirty="0">
                <a:solidFill>
                  <a:srgbClr val="111122"/>
                </a:solidFill>
              </a:rPr>
              <a:t>Done</a:t>
            </a:r>
          </a:p>
        </p:txBody>
      </p:sp>
      <p:sp>
        <p:nvSpPr>
          <p:cNvPr id="234" name="t"/>
          <p:cNvSpPr>
            <a:spLocks noGrp="1"/>
          </p:cNvSpPr>
          <p:nvPr/>
        </p:nvSpPr>
        <p:spPr>
          <a:xfrm>
            <a:off x="3270250" y="38100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F8A5E"/>
                </a:solidFill>
              </a:rPr>
              <a:t>Steve  →  Clair</a:t>
            </a:r>
          </a:p>
        </p:txBody>
      </p:sp>
      <p:sp>
        <p:nvSpPr>
          <p:cNvPr id="235" name="b"/>
          <p:cNvSpPr>
            <a:spLocks noGrp="1"/>
          </p:cNvSpPr>
          <p:nvPr/>
        </p:nvSpPr>
        <p:spPr>
          <a:xfrm>
            <a:off x="2349500" y="5168900"/>
            <a:ext cx="1219200" cy="25400"/>
          </a:xfrm>
          <a:prstGeom prst="rect">
            <a:avLst/>
          </a:prstGeom>
          <a:solidFill>
            <a:srgbClr val="1A7FB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36" name="b"/>
          <p:cNvSpPr>
            <a:spLocks noGrp="1"/>
          </p:cNvSpPr>
          <p:nvPr/>
        </p:nvSpPr>
        <p:spPr>
          <a:xfrm>
            <a:off x="3619500" y="4953000"/>
            <a:ext cx="4953000" cy="457200"/>
          </a:xfrm>
          <a:prstGeom prst="roundRect">
            <a:avLst>
              <a:gd name="adj" fmla="val 20000"/>
            </a:avLst>
          </a:prstGeom>
          <a:solidFill>
            <a:srgbClr val="CBE9F7"/>
          </a:solidFill>
          <a:ln w="12700">
            <a:solidFill>
              <a:srgbClr val="1A7FB5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37" name="t"/>
          <p:cNvSpPr>
            <a:spLocks noGrp="1"/>
          </p:cNvSpPr>
          <p:nvPr/>
        </p:nvSpPr>
        <p:spPr>
          <a:xfrm>
            <a:off x="3670300" y="4953000"/>
            <a:ext cx="48514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300" b="0" dirty="0">
                <a:solidFill>
                  <a:srgbClr val="111122"/>
                </a:solidFill>
              </a:rPr>
              <a:t>Ok I am set up — send the onboarded notification</a:t>
            </a:r>
          </a:p>
        </p:txBody>
      </p:sp>
      <p:sp>
        <p:nvSpPr>
          <p:cNvPr id="238" name="t"/>
          <p:cNvSpPr>
            <a:spLocks noGrp="1"/>
          </p:cNvSpPr>
          <p:nvPr/>
        </p:nvSpPr>
        <p:spPr>
          <a:xfrm>
            <a:off x="3619500" y="4699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A7FB5"/>
                </a:solidFill>
              </a:rPr>
              <a:t>Clair  →  Nichole</a:t>
            </a:r>
          </a:p>
        </p:txBody>
      </p:sp>
      <p:sp>
        <p:nvSpPr>
          <p:cNvPr id="239" name="b"/>
          <p:cNvSpPr>
            <a:spLocks noGrp="1"/>
          </p:cNvSpPr>
          <p:nvPr/>
        </p:nvSpPr>
        <p:spPr>
          <a:xfrm>
            <a:off x="254000" y="6413500"/>
            <a:ext cx="11684000" cy="3429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40" name="t"/>
          <p:cNvSpPr>
            <a:spLocks noGrp="1"/>
          </p:cNvSpPr>
          <p:nvPr/>
        </p:nvSpPr>
        <p:spPr>
          <a:xfrm>
            <a:off x="254000" y="6413500"/>
            <a:ext cx="11684000" cy="3429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100" b="0" dirty="0">
                <a:solidFill>
                  <a:srgbClr val="7799AA"/>
                </a:solidFill>
              </a:rPr>
              <a:t>Each name is a persona (AI agent)  ·  Handoffs occur when a task is outside a persona’s assigned skills</a:t>
            </a:r>
          </a:p>
        </p:txBody>
      </p:sp>
      <p:pic>
        <p:nvPicPr>
          <p:cNvPr id="241" name="Graphic 241" descr="Clair ava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5100" y="762000"/>
            <a:ext cx="812800" cy="812800"/>
          </a:xfrm>
          <a:prstGeom prst="rect">
            <a:avLst/>
          </a:prstGeom>
        </p:spPr>
      </p:pic>
      <p:pic>
        <p:nvPicPr>
          <p:cNvPr id="242" name="Graphic 242" descr="Steve ava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762000"/>
            <a:ext cx="812800" cy="812800"/>
          </a:xfrm>
          <a:prstGeom prst="rect">
            <a:avLst/>
          </a:prstGeom>
        </p:spPr>
      </p:pic>
      <p:pic>
        <p:nvPicPr>
          <p:cNvPr id="243" name="Graphic 243" descr="Nichole avat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4100" y="762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8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BBA74C-5CAE-D4FD-93F6-BAC5BE61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163" y="0"/>
            <a:ext cx="9369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1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8c4e37-af36-4da2-95c7-8dfffebe0968}">
  <we:reference id="WA200010001" version="1.0.0.1" store="en-US" storeType="OMEX"/>
  <we:alternateReferences/>
  <we:properties>
    <we:property name="Microsoft.Office.CampaignId" value="&quot;none&quot;"/>
    <we:property name="claude.fileId" value="&quot;56ef4b88-2719-41a1-8613-2c2e4d4121f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3000</TotalTime>
  <Words>368</Words>
  <Application>Microsoft Office PowerPoint</Application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Chris McGinn</cp:lastModifiedBy>
  <cp:revision>6</cp:revision>
  <dcterms:created xsi:type="dcterms:W3CDTF">2018-06-07T21:39:02Z</dcterms:created>
  <dcterms:modified xsi:type="dcterms:W3CDTF">2026-05-28T13:20:45Z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